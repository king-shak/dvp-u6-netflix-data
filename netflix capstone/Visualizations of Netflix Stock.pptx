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5" autoAdjust="0"/>
    <p:restoredTop sz="85377" autoAdjust="0"/>
  </p:normalViewPr>
  <p:slideViewPr>
    <p:cSldViewPr snapToGrid="0">
      <p:cViewPr>
        <p:scale>
          <a:sx n="90" d="100"/>
          <a:sy n="90" d="100"/>
        </p:scale>
        <p:origin x="66" y="-6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78EF70-57B7-4962-A2C3-5C793F726399}" type="datetimeFigureOut">
              <a:rPr lang="en-US" smtClean="0"/>
              <a:t>7/7/2018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595EC8-BB72-4F61-B305-15A056B06828}" type="slidenum">
              <a:rPr lang="en-US" smtClean="0"/>
              <a:t>‹#›</a:t>
            </a:fld>
            <a:endParaRPr lang="en-US"/>
          </a:p>
        </p:txBody>
      </p:sp>
    </p:spTree>
    <p:extLst>
      <p:ext uri="{BB962C8B-B14F-4D97-AF65-F5344CB8AC3E}">
        <p14:creationId xmlns:p14="http://schemas.microsoft.com/office/powerpoint/2010/main" val="1389319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Majority of the stock in Q1 hovered around 141 or 142 dollars, as the graph is skewed to the right</a:t>
            </a:r>
          </a:p>
          <a:p>
            <a:pPr marL="171450" indent="-171450">
              <a:buFont typeface="Arial" panose="020B0604020202020204" pitchFamily="34" charset="0"/>
              <a:buChar char="•"/>
            </a:pPr>
            <a:r>
              <a:rPr lang="en-US" dirty="0"/>
              <a:t>The prices in Q2 were pretty well distributed with a wider range than Q1, most of the prices accumulated around the $155 price point</a:t>
            </a:r>
          </a:p>
          <a:p>
            <a:pPr marL="171450" indent="-171450">
              <a:buFont typeface="Arial" panose="020B0604020202020204" pitchFamily="34" charset="0"/>
              <a:buChar char="•"/>
            </a:pPr>
            <a:r>
              <a:rPr lang="en-US" dirty="0"/>
              <a:t>Prices in Q3 were spread out even more, though we can see that the prices spiked at $185 as the graph was skewed to the right with the rest of the graph being real thin</a:t>
            </a:r>
          </a:p>
          <a:p>
            <a:pPr marL="171450" indent="-171450">
              <a:buFont typeface="Arial" panose="020B0604020202020204" pitchFamily="34" charset="0"/>
              <a:buChar char="•"/>
            </a:pPr>
            <a:r>
              <a:rPr lang="en-US" dirty="0"/>
              <a:t>Prices in Q4 had a range much shorter than Q2 or Q3, however it was a much higher range. The curve of the graph is </a:t>
            </a:r>
            <a:r>
              <a:rPr lang="en-US" dirty="0" err="1"/>
              <a:t>bimodial</a:t>
            </a:r>
            <a:r>
              <a:rPr lang="en-US" dirty="0"/>
              <a:t> indicating majority of the price hovered around $185 and $195</a:t>
            </a:r>
          </a:p>
        </p:txBody>
      </p:sp>
      <p:sp>
        <p:nvSpPr>
          <p:cNvPr id="4" name="Slide Number Placeholder 3"/>
          <p:cNvSpPr>
            <a:spLocks noGrp="1"/>
          </p:cNvSpPr>
          <p:nvPr>
            <p:ph type="sldNum" sz="quarter" idx="10"/>
          </p:nvPr>
        </p:nvSpPr>
        <p:spPr/>
        <p:txBody>
          <a:bodyPr/>
          <a:lstStyle/>
          <a:p>
            <a:fld id="{71595EC8-BB72-4F61-B305-15A056B06828}" type="slidenum">
              <a:rPr lang="en-US" smtClean="0"/>
              <a:t>3</a:t>
            </a:fld>
            <a:endParaRPr lang="en-US"/>
          </a:p>
        </p:txBody>
      </p:sp>
    </p:spTree>
    <p:extLst>
      <p:ext uri="{BB962C8B-B14F-4D97-AF65-F5344CB8AC3E}">
        <p14:creationId xmlns:p14="http://schemas.microsoft.com/office/powerpoint/2010/main" val="4256219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amount of revenue that ended up being the earnings typically rose 2% every quarter</a:t>
            </a:r>
          </a:p>
          <a:p>
            <a:pPr marL="171450" indent="-171450">
              <a:buFont typeface="Arial" panose="020B0604020202020204" pitchFamily="34" charset="0"/>
              <a:buChar char="•"/>
            </a:pPr>
            <a:r>
              <a:rPr lang="en-US" dirty="0"/>
              <a:t>The amount that the earnings rose by was not real consistent from one quarter to another</a:t>
            </a:r>
          </a:p>
          <a:p>
            <a:pPr marL="171450" indent="-171450">
              <a:buFont typeface="Arial" panose="020B0604020202020204" pitchFamily="34" charset="0"/>
              <a:buChar char="•"/>
            </a:pPr>
            <a:r>
              <a:rPr lang="en-US" dirty="0"/>
              <a:t>The amount that the revenue rose every quarter was fairly consistent but it slowed down in the 1</a:t>
            </a:r>
            <a:r>
              <a:rPr lang="en-US" baseline="30000" dirty="0"/>
              <a:t>st</a:t>
            </a:r>
            <a:r>
              <a:rPr lang="en-US" dirty="0"/>
              <a:t> quarter of 2018</a:t>
            </a:r>
          </a:p>
        </p:txBody>
      </p:sp>
      <p:sp>
        <p:nvSpPr>
          <p:cNvPr id="4" name="Slide Number Placeholder 3"/>
          <p:cNvSpPr>
            <a:spLocks noGrp="1"/>
          </p:cNvSpPr>
          <p:nvPr>
            <p:ph type="sldNum" sz="quarter" idx="10"/>
          </p:nvPr>
        </p:nvSpPr>
        <p:spPr/>
        <p:txBody>
          <a:bodyPr/>
          <a:lstStyle/>
          <a:p>
            <a:fld id="{71595EC8-BB72-4F61-B305-15A056B06828}" type="slidenum">
              <a:rPr lang="en-US" smtClean="0"/>
              <a:t>4</a:t>
            </a:fld>
            <a:endParaRPr lang="en-US"/>
          </a:p>
        </p:txBody>
      </p:sp>
    </p:spTree>
    <p:extLst>
      <p:ext uri="{BB962C8B-B14F-4D97-AF65-F5344CB8AC3E}">
        <p14:creationId xmlns:p14="http://schemas.microsoft.com/office/powerpoint/2010/main" val="2205542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1595EC8-BB72-4F61-B305-15A056B06828}" type="slidenum">
              <a:rPr lang="en-US" smtClean="0"/>
              <a:t>6</a:t>
            </a:fld>
            <a:endParaRPr lang="en-US"/>
          </a:p>
        </p:txBody>
      </p:sp>
    </p:spTree>
    <p:extLst>
      <p:ext uri="{BB962C8B-B14F-4D97-AF65-F5344CB8AC3E}">
        <p14:creationId xmlns:p14="http://schemas.microsoft.com/office/powerpoint/2010/main" val="3035950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33C44-EF54-4820-9050-4E0F76C1F8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C79F7E2-A2EC-4CF2-98A9-6E5D4C432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289F1-6701-4113-9754-F8C58505B668}"/>
              </a:ext>
            </a:extLst>
          </p:cNvPr>
          <p:cNvSpPr>
            <a:spLocks noGrp="1"/>
          </p:cNvSpPr>
          <p:nvPr>
            <p:ph type="dt" sz="half" idx="10"/>
          </p:nvPr>
        </p:nvSpPr>
        <p:spPr/>
        <p:txBody>
          <a:bodyPr/>
          <a:lstStyle/>
          <a:p>
            <a:fld id="{22B8893C-AA98-43F2-B227-7DF9ECCCC61D}" type="datetimeFigureOut">
              <a:rPr lang="en-US" smtClean="0"/>
              <a:t>7/7/2018</a:t>
            </a:fld>
            <a:endParaRPr lang="en-US"/>
          </a:p>
        </p:txBody>
      </p:sp>
      <p:sp>
        <p:nvSpPr>
          <p:cNvPr id="5" name="Footer Placeholder 4">
            <a:extLst>
              <a:ext uri="{FF2B5EF4-FFF2-40B4-BE49-F238E27FC236}">
                <a16:creationId xmlns:a16="http://schemas.microsoft.com/office/drawing/2014/main" id="{B5056A43-019B-4DED-B972-45A63AFC9B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C4F4AF-6C7C-49B3-AD84-D4CD7AAB7875}"/>
              </a:ext>
            </a:extLst>
          </p:cNvPr>
          <p:cNvSpPr>
            <a:spLocks noGrp="1"/>
          </p:cNvSpPr>
          <p:nvPr>
            <p:ph type="sldNum" sz="quarter" idx="12"/>
          </p:nvPr>
        </p:nvSpPr>
        <p:spPr/>
        <p:txBody>
          <a:bodyPr/>
          <a:lstStyle/>
          <a:p>
            <a:fld id="{5FDB1E79-7BB8-460D-940C-1AA9D5FFA4EA}" type="slidenum">
              <a:rPr lang="en-US" smtClean="0"/>
              <a:t>‹#›</a:t>
            </a:fld>
            <a:endParaRPr lang="en-US"/>
          </a:p>
        </p:txBody>
      </p:sp>
    </p:spTree>
    <p:extLst>
      <p:ext uri="{BB962C8B-B14F-4D97-AF65-F5344CB8AC3E}">
        <p14:creationId xmlns:p14="http://schemas.microsoft.com/office/powerpoint/2010/main" val="154577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63459-4E1E-4BB0-BC35-C1F30DD02E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B60776-C9D1-459D-ADD0-3F3C68786CD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2F79C7-0E23-4818-B5CC-E5C89CE2CFF5}"/>
              </a:ext>
            </a:extLst>
          </p:cNvPr>
          <p:cNvSpPr>
            <a:spLocks noGrp="1"/>
          </p:cNvSpPr>
          <p:nvPr>
            <p:ph type="dt" sz="half" idx="10"/>
          </p:nvPr>
        </p:nvSpPr>
        <p:spPr/>
        <p:txBody>
          <a:bodyPr/>
          <a:lstStyle/>
          <a:p>
            <a:fld id="{22B8893C-AA98-43F2-B227-7DF9ECCCC61D}" type="datetimeFigureOut">
              <a:rPr lang="en-US" smtClean="0"/>
              <a:t>7/7/2018</a:t>
            </a:fld>
            <a:endParaRPr lang="en-US"/>
          </a:p>
        </p:txBody>
      </p:sp>
      <p:sp>
        <p:nvSpPr>
          <p:cNvPr id="5" name="Footer Placeholder 4">
            <a:extLst>
              <a:ext uri="{FF2B5EF4-FFF2-40B4-BE49-F238E27FC236}">
                <a16:creationId xmlns:a16="http://schemas.microsoft.com/office/drawing/2014/main" id="{6DDF2177-4A70-4BA1-9374-9BB442621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548397-1C3D-4DB1-BF79-174DD8C80FA5}"/>
              </a:ext>
            </a:extLst>
          </p:cNvPr>
          <p:cNvSpPr>
            <a:spLocks noGrp="1"/>
          </p:cNvSpPr>
          <p:nvPr>
            <p:ph type="sldNum" sz="quarter" idx="12"/>
          </p:nvPr>
        </p:nvSpPr>
        <p:spPr/>
        <p:txBody>
          <a:bodyPr/>
          <a:lstStyle/>
          <a:p>
            <a:fld id="{5FDB1E79-7BB8-460D-940C-1AA9D5FFA4EA}" type="slidenum">
              <a:rPr lang="en-US" smtClean="0"/>
              <a:t>‹#›</a:t>
            </a:fld>
            <a:endParaRPr lang="en-US"/>
          </a:p>
        </p:txBody>
      </p:sp>
    </p:spTree>
    <p:extLst>
      <p:ext uri="{BB962C8B-B14F-4D97-AF65-F5344CB8AC3E}">
        <p14:creationId xmlns:p14="http://schemas.microsoft.com/office/powerpoint/2010/main" val="714127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F6C67-FE97-4C4C-BC91-E3B561D447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1C9B05-288E-4213-A9AE-2D261C38CD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8CA1284-E2FE-498F-8FBD-A62658B01620}"/>
              </a:ext>
            </a:extLst>
          </p:cNvPr>
          <p:cNvSpPr>
            <a:spLocks noGrp="1"/>
          </p:cNvSpPr>
          <p:nvPr>
            <p:ph type="dt" sz="half" idx="10"/>
          </p:nvPr>
        </p:nvSpPr>
        <p:spPr/>
        <p:txBody>
          <a:bodyPr/>
          <a:lstStyle/>
          <a:p>
            <a:fld id="{22B8893C-AA98-43F2-B227-7DF9ECCCC61D}" type="datetimeFigureOut">
              <a:rPr lang="en-US" smtClean="0"/>
              <a:t>7/7/2018</a:t>
            </a:fld>
            <a:endParaRPr lang="en-US"/>
          </a:p>
        </p:txBody>
      </p:sp>
      <p:sp>
        <p:nvSpPr>
          <p:cNvPr id="5" name="Footer Placeholder 4">
            <a:extLst>
              <a:ext uri="{FF2B5EF4-FFF2-40B4-BE49-F238E27FC236}">
                <a16:creationId xmlns:a16="http://schemas.microsoft.com/office/drawing/2014/main" id="{CE8F2AA2-04C8-4267-9D11-2FCFE03515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5DD90A-4C9E-4363-B248-E63DCF9BDED7}"/>
              </a:ext>
            </a:extLst>
          </p:cNvPr>
          <p:cNvSpPr>
            <a:spLocks noGrp="1"/>
          </p:cNvSpPr>
          <p:nvPr>
            <p:ph type="sldNum" sz="quarter" idx="12"/>
          </p:nvPr>
        </p:nvSpPr>
        <p:spPr/>
        <p:txBody>
          <a:bodyPr/>
          <a:lstStyle/>
          <a:p>
            <a:fld id="{5FDB1E79-7BB8-460D-940C-1AA9D5FFA4EA}" type="slidenum">
              <a:rPr lang="en-US" smtClean="0"/>
              <a:t>‹#›</a:t>
            </a:fld>
            <a:endParaRPr lang="en-US"/>
          </a:p>
        </p:txBody>
      </p:sp>
    </p:spTree>
    <p:extLst>
      <p:ext uri="{BB962C8B-B14F-4D97-AF65-F5344CB8AC3E}">
        <p14:creationId xmlns:p14="http://schemas.microsoft.com/office/powerpoint/2010/main" val="760456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761B9-175A-48FB-8324-0E288C7469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50B46C-558F-4380-809A-E12F0590A14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55B9BB-610C-45ED-BED2-D9317379DC0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1E37D7-7FB6-4663-B114-8C00B023E466}"/>
              </a:ext>
            </a:extLst>
          </p:cNvPr>
          <p:cNvSpPr>
            <a:spLocks noGrp="1"/>
          </p:cNvSpPr>
          <p:nvPr>
            <p:ph type="dt" sz="half" idx="10"/>
          </p:nvPr>
        </p:nvSpPr>
        <p:spPr/>
        <p:txBody>
          <a:bodyPr/>
          <a:lstStyle/>
          <a:p>
            <a:fld id="{22B8893C-AA98-43F2-B227-7DF9ECCCC61D}" type="datetimeFigureOut">
              <a:rPr lang="en-US" smtClean="0"/>
              <a:t>7/7/2018</a:t>
            </a:fld>
            <a:endParaRPr lang="en-US"/>
          </a:p>
        </p:txBody>
      </p:sp>
      <p:sp>
        <p:nvSpPr>
          <p:cNvPr id="6" name="Footer Placeholder 5">
            <a:extLst>
              <a:ext uri="{FF2B5EF4-FFF2-40B4-BE49-F238E27FC236}">
                <a16:creationId xmlns:a16="http://schemas.microsoft.com/office/drawing/2014/main" id="{0E327073-7604-4D64-B853-9131C17D96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96FD53-29E5-4FAB-AA1D-E569134C50EF}"/>
              </a:ext>
            </a:extLst>
          </p:cNvPr>
          <p:cNvSpPr>
            <a:spLocks noGrp="1"/>
          </p:cNvSpPr>
          <p:nvPr>
            <p:ph type="sldNum" sz="quarter" idx="12"/>
          </p:nvPr>
        </p:nvSpPr>
        <p:spPr/>
        <p:txBody>
          <a:bodyPr/>
          <a:lstStyle/>
          <a:p>
            <a:fld id="{5FDB1E79-7BB8-460D-940C-1AA9D5FFA4EA}" type="slidenum">
              <a:rPr lang="en-US" smtClean="0"/>
              <a:t>‹#›</a:t>
            </a:fld>
            <a:endParaRPr lang="en-US"/>
          </a:p>
        </p:txBody>
      </p:sp>
    </p:spTree>
    <p:extLst>
      <p:ext uri="{BB962C8B-B14F-4D97-AF65-F5344CB8AC3E}">
        <p14:creationId xmlns:p14="http://schemas.microsoft.com/office/powerpoint/2010/main" val="318431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7AB03-6C3A-4E67-B115-19233E0E11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41122E-A156-4CAB-9245-A06DB43378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6115169-60D6-4F7D-8BED-72D75C74D54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4472A6-77BF-4F81-9BC3-44B18815A2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C83DCCE-3C3F-484F-9F4A-7914E436704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4EBCD3-A31D-496B-BCBD-349D355AAA29}"/>
              </a:ext>
            </a:extLst>
          </p:cNvPr>
          <p:cNvSpPr>
            <a:spLocks noGrp="1"/>
          </p:cNvSpPr>
          <p:nvPr>
            <p:ph type="dt" sz="half" idx="10"/>
          </p:nvPr>
        </p:nvSpPr>
        <p:spPr/>
        <p:txBody>
          <a:bodyPr/>
          <a:lstStyle/>
          <a:p>
            <a:fld id="{22B8893C-AA98-43F2-B227-7DF9ECCCC61D}" type="datetimeFigureOut">
              <a:rPr lang="en-US" smtClean="0"/>
              <a:t>7/7/2018</a:t>
            </a:fld>
            <a:endParaRPr lang="en-US"/>
          </a:p>
        </p:txBody>
      </p:sp>
      <p:sp>
        <p:nvSpPr>
          <p:cNvPr id="8" name="Footer Placeholder 7">
            <a:extLst>
              <a:ext uri="{FF2B5EF4-FFF2-40B4-BE49-F238E27FC236}">
                <a16:creationId xmlns:a16="http://schemas.microsoft.com/office/drawing/2014/main" id="{E8A268B2-6359-4B2D-B384-0C73B2C42B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0B911F-2151-44BD-862A-F4628F815F29}"/>
              </a:ext>
            </a:extLst>
          </p:cNvPr>
          <p:cNvSpPr>
            <a:spLocks noGrp="1"/>
          </p:cNvSpPr>
          <p:nvPr>
            <p:ph type="sldNum" sz="quarter" idx="12"/>
          </p:nvPr>
        </p:nvSpPr>
        <p:spPr/>
        <p:txBody>
          <a:bodyPr/>
          <a:lstStyle/>
          <a:p>
            <a:fld id="{5FDB1E79-7BB8-460D-940C-1AA9D5FFA4EA}" type="slidenum">
              <a:rPr lang="en-US" smtClean="0"/>
              <a:t>‹#›</a:t>
            </a:fld>
            <a:endParaRPr lang="en-US"/>
          </a:p>
        </p:txBody>
      </p:sp>
    </p:spTree>
    <p:extLst>
      <p:ext uri="{BB962C8B-B14F-4D97-AF65-F5344CB8AC3E}">
        <p14:creationId xmlns:p14="http://schemas.microsoft.com/office/powerpoint/2010/main" val="2956322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3D1D9-C26B-4971-8FBB-6A29A82CFF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140A63-72B5-4E77-8C09-35229C68F25A}"/>
              </a:ext>
            </a:extLst>
          </p:cNvPr>
          <p:cNvSpPr>
            <a:spLocks noGrp="1"/>
          </p:cNvSpPr>
          <p:nvPr>
            <p:ph type="dt" sz="half" idx="10"/>
          </p:nvPr>
        </p:nvSpPr>
        <p:spPr/>
        <p:txBody>
          <a:bodyPr/>
          <a:lstStyle/>
          <a:p>
            <a:fld id="{22B8893C-AA98-43F2-B227-7DF9ECCCC61D}" type="datetimeFigureOut">
              <a:rPr lang="en-US" smtClean="0"/>
              <a:t>7/7/2018</a:t>
            </a:fld>
            <a:endParaRPr lang="en-US"/>
          </a:p>
        </p:txBody>
      </p:sp>
      <p:sp>
        <p:nvSpPr>
          <p:cNvPr id="4" name="Footer Placeholder 3">
            <a:extLst>
              <a:ext uri="{FF2B5EF4-FFF2-40B4-BE49-F238E27FC236}">
                <a16:creationId xmlns:a16="http://schemas.microsoft.com/office/drawing/2014/main" id="{FFB85FC2-1259-49E9-BD0D-2496CC2FCA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239A565-61A3-4E2C-9463-12429ADA7FB2}"/>
              </a:ext>
            </a:extLst>
          </p:cNvPr>
          <p:cNvSpPr>
            <a:spLocks noGrp="1"/>
          </p:cNvSpPr>
          <p:nvPr>
            <p:ph type="sldNum" sz="quarter" idx="12"/>
          </p:nvPr>
        </p:nvSpPr>
        <p:spPr/>
        <p:txBody>
          <a:bodyPr/>
          <a:lstStyle/>
          <a:p>
            <a:fld id="{5FDB1E79-7BB8-460D-940C-1AA9D5FFA4EA}" type="slidenum">
              <a:rPr lang="en-US" smtClean="0"/>
              <a:t>‹#›</a:t>
            </a:fld>
            <a:endParaRPr lang="en-US"/>
          </a:p>
        </p:txBody>
      </p:sp>
    </p:spTree>
    <p:extLst>
      <p:ext uri="{BB962C8B-B14F-4D97-AF65-F5344CB8AC3E}">
        <p14:creationId xmlns:p14="http://schemas.microsoft.com/office/powerpoint/2010/main" val="2188350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2C27CD-8CAE-4976-99D1-7CB88B251C50}"/>
              </a:ext>
            </a:extLst>
          </p:cNvPr>
          <p:cNvSpPr>
            <a:spLocks noGrp="1"/>
          </p:cNvSpPr>
          <p:nvPr>
            <p:ph type="dt" sz="half" idx="10"/>
          </p:nvPr>
        </p:nvSpPr>
        <p:spPr/>
        <p:txBody>
          <a:bodyPr/>
          <a:lstStyle/>
          <a:p>
            <a:fld id="{22B8893C-AA98-43F2-B227-7DF9ECCCC61D}" type="datetimeFigureOut">
              <a:rPr lang="en-US" smtClean="0"/>
              <a:t>7/7/2018</a:t>
            </a:fld>
            <a:endParaRPr lang="en-US"/>
          </a:p>
        </p:txBody>
      </p:sp>
      <p:sp>
        <p:nvSpPr>
          <p:cNvPr id="3" name="Footer Placeholder 2">
            <a:extLst>
              <a:ext uri="{FF2B5EF4-FFF2-40B4-BE49-F238E27FC236}">
                <a16:creationId xmlns:a16="http://schemas.microsoft.com/office/drawing/2014/main" id="{00F491E6-3194-44E4-9610-A1F95B70EA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73B2203-8A4F-4EE2-ACE2-A1892E5104EA}"/>
              </a:ext>
            </a:extLst>
          </p:cNvPr>
          <p:cNvSpPr>
            <a:spLocks noGrp="1"/>
          </p:cNvSpPr>
          <p:nvPr>
            <p:ph type="sldNum" sz="quarter" idx="12"/>
          </p:nvPr>
        </p:nvSpPr>
        <p:spPr/>
        <p:txBody>
          <a:bodyPr/>
          <a:lstStyle/>
          <a:p>
            <a:fld id="{5FDB1E79-7BB8-460D-940C-1AA9D5FFA4EA}" type="slidenum">
              <a:rPr lang="en-US" smtClean="0"/>
              <a:t>‹#›</a:t>
            </a:fld>
            <a:endParaRPr lang="en-US"/>
          </a:p>
        </p:txBody>
      </p:sp>
    </p:spTree>
    <p:extLst>
      <p:ext uri="{BB962C8B-B14F-4D97-AF65-F5344CB8AC3E}">
        <p14:creationId xmlns:p14="http://schemas.microsoft.com/office/powerpoint/2010/main" val="1218819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51357-C7B2-499C-8382-5AF4B1B9B6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3528A6-5FBC-46F9-965F-9863505BDB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E21D97-ED87-48F9-A789-B59C722A70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91F3927-A9D9-42ED-A848-80383349C622}"/>
              </a:ext>
            </a:extLst>
          </p:cNvPr>
          <p:cNvSpPr>
            <a:spLocks noGrp="1"/>
          </p:cNvSpPr>
          <p:nvPr>
            <p:ph type="dt" sz="half" idx="10"/>
          </p:nvPr>
        </p:nvSpPr>
        <p:spPr/>
        <p:txBody>
          <a:bodyPr/>
          <a:lstStyle/>
          <a:p>
            <a:fld id="{22B8893C-AA98-43F2-B227-7DF9ECCCC61D}" type="datetimeFigureOut">
              <a:rPr lang="en-US" smtClean="0"/>
              <a:t>7/7/2018</a:t>
            </a:fld>
            <a:endParaRPr lang="en-US"/>
          </a:p>
        </p:txBody>
      </p:sp>
      <p:sp>
        <p:nvSpPr>
          <p:cNvPr id="6" name="Footer Placeholder 5">
            <a:extLst>
              <a:ext uri="{FF2B5EF4-FFF2-40B4-BE49-F238E27FC236}">
                <a16:creationId xmlns:a16="http://schemas.microsoft.com/office/drawing/2014/main" id="{FD7EFA30-013F-46C7-ACC0-FD8B4CAD46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E4AEDF-2F4F-447B-AA75-62BB7A4A872B}"/>
              </a:ext>
            </a:extLst>
          </p:cNvPr>
          <p:cNvSpPr>
            <a:spLocks noGrp="1"/>
          </p:cNvSpPr>
          <p:nvPr>
            <p:ph type="sldNum" sz="quarter" idx="12"/>
          </p:nvPr>
        </p:nvSpPr>
        <p:spPr/>
        <p:txBody>
          <a:bodyPr/>
          <a:lstStyle/>
          <a:p>
            <a:fld id="{5FDB1E79-7BB8-460D-940C-1AA9D5FFA4EA}" type="slidenum">
              <a:rPr lang="en-US" smtClean="0"/>
              <a:t>‹#›</a:t>
            </a:fld>
            <a:endParaRPr lang="en-US"/>
          </a:p>
        </p:txBody>
      </p:sp>
    </p:spTree>
    <p:extLst>
      <p:ext uri="{BB962C8B-B14F-4D97-AF65-F5344CB8AC3E}">
        <p14:creationId xmlns:p14="http://schemas.microsoft.com/office/powerpoint/2010/main" val="410345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166B7-6B03-4706-846D-5332FF5162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7A919F-0F6D-4634-9FBD-08A3072FEF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510416-CDFB-4C37-B2D5-5AAE4B4642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0BE1A7A-75F5-4F1B-98F6-A02EAF345491}"/>
              </a:ext>
            </a:extLst>
          </p:cNvPr>
          <p:cNvSpPr>
            <a:spLocks noGrp="1"/>
          </p:cNvSpPr>
          <p:nvPr>
            <p:ph type="dt" sz="half" idx="10"/>
          </p:nvPr>
        </p:nvSpPr>
        <p:spPr/>
        <p:txBody>
          <a:bodyPr/>
          <a:lstStyle/>
          <a:p>
            <a:fld id="{22B8893C-AA98-43F2-B227-7DF9ECCCC61D}" type="datetimeFigureOut">
              <a:rPr lang="en-US" smtClean="0"/>
              <a:t>7/7/2018</a:t>
            </a:fld>
            <a:endParaRPr lang="en-US"/>
          </a:p>
        </p:txBody>
      </p:sp>
      <p:sp>
        <p:nvSpPr>
          <p:cNvPr id="6" name="Footer Placeholder 5">
            <a:extLst>
              <a:ext uri="{FF2B5EF4-FFF2-40B4-BE49-F238E27FC236}">
                <a16:creationId xmlns:a16="http://schemas.microsoft.com/office/drawing/2014/main" id="{42E07F9E-837E-4446-AF89-99FF9FCD7C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D1DE68-58C0-43FD-868D-B2D507F24D6B}"/>
              </a:ext>
            </a:extLst>
          </p:cNvPr>
          <p:cNvSpPr>
            <a:spLocks noGrp="1"/>
          </p:cNvSpPr>
          <p:nvPr>
            <p:ph type="sldNum" sz="quarter" idx="12"/>
          </p:nvPr>
        </p:nvSpPr>
        <p:spPr/>
        <p:txBody>
          <a:bodyPr/>
          <a:lstStyle/>
          <a:p>
            <a:fld id="{5FDB1E79-7BB8-460D-940C-1AA9D5FFA4EA}" type="slidenum">
              <a:rPr lang="en-US" smtClean="0"/>
              <a:t>‹#›</a:t>
            </a:fld>
            <a:endParaRPr lang="en-US"/>
          </a:p>
        </p:txBody>
      </p:sp>
    </p:spTree>
    <p:extLst>
      <p:ext uri="{BB962C8B-B14F-4D97-AF65-F5344CB8AC3E}">
        <p14:creationId xmlns:p14="http://schemas.microsoft.com/office/powerpoint/2010/main" val="4015056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26BCD-A29B-40C4-A82E-09D6AA1250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C74720-7C74-45A1-B119-98D5595DC87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56CCCA-2CBE-49B2-8846-9C0D7914FCEB}"/>
              </a:ext>
            </a:extLst>
          </p:cNvPr>
          <p:cNvSpPr>
            <a:spLocks noGrp="1"/>
          </p:cNvSpPr>
          <p:nvPr>
            <p:ph type="dt" sz="half" idx="10"/>
          </p:nvPr>
        </p:nvSpPr>
        <p:spPr/>
        <p:txBody>
          <a:bodyPr/>
          <a:lstStyle/>
          <a:p>
            <a:fld id="{22B8893C-AA98-43F2-B227-7DF9ECCCC61D}" type="datetimeFigureOut">
              <a:rPr lang="en-US" smtClean="0"/>
              <a:t>7/7/2018</a:t>
            </a:fld>
            <a:endParaRPr lang="en-US"/>
          </a:p>
        </p:txBody>
      </p:sp>
      <p:sp>
        <p:nvSpPr>
          <p:cNvPr id="5" name="Footer Placeholder 4">
            <a:extLst>
              <a:ext uri="{FF2B5EF4-FFF2-40B4-BE49-F238E27FC236}">
                <a16:creationId xmlns:a16="http://schemas.microsoft.com/office/drawing/2014/main" id="{1E35631F-2927-4E1B-AE46-905554BD6B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0A5784-B455-43C4-B315-AF31CD7C7064}"/>
              </a:ext>
            </a:extLst>
          </p:cNvPr>
          <p:cNvSpPr>
            <a:spLocks noGrp="1"/>
          </p:cNvSpPr>
          <p:nvPr>
            <p:ph type="sldNum" sz="quarter" idx="12"/>
          </p:nvPr>
        </p:nvSpPr>
        <p:spPr/>
        <p:txBody>
          <a:bodyPr/>
          <a:lstStyle/>
          <a:p>
            <a:fld id="{5FDB1E79-7BB8-460D-940C-1AA9D5FFA4EA}" type="slidenum">
              <a:rPr lang="en-US" smtClean="0"/>
              <a:t>‹#›</a:t>
            </a:fld>
            <a:endParaRPr lang="en-US"/>
          </a:p>
        </p:txBody>
      </p:sp>
    </p:spTree>
    <p:extLst>
      <p:ext uri="{BB962C8B-B14F-4D97-AF65-F5344CB8AC3E}">
        <p14:creationId xmlns:p14="http://schemas.microsoft.com/office/powerpoint/2010/main" val="787622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DCDFE2-2B5F-4B09-A42E-5C2788A2837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834A0F-2082-4A6D-8EBB-22A00F11BCB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D4D48E-0A5E-4D2C-BD84-434EAA5E13BD}"/>
              </a:ext>
            </a:extLst>
          </p:cNvPr>
          <p:cNvSpPr>
            <a:spLocks noGrp="1"/>
          </p:cNvSpPr>
          <p:nvPr>
            <p:ph type="dt" sz="half" idx="10"/>
          </p:nvPr>
        </p:nvSpPr>
        <p:spPr/>
        <p:txBody>
          <a:bodyPr/>
          <a:lstStyle/>
          <a:p>
            <a:fld id="{22B8893C-AA98-43F2-B227-7DF9ECCCC61D}" type="datetimeFigureOut">
              <a:rPr lang="en-US" smtClean="0"/>
              <a:t>7/7/2018</a:t>
            </a:fld>
            <a:endParaRPr lang="en-US"/>
          </a:p>
        </p:txBody>
      </p:sp>
      <p:sp>
        <p:nvSpPr>
          <p:cNvPr id="5" name="Footer Placeholder 4">
            <a:extLst>
              <a:ext uri="{FF2B5EF4-FFF2-40B4-BE49-F238E27FC236}">
                <a16:creationId xmlns:a16="http://schemas.microsoft.com/office/drawing/2014/main" id="{0BAC37A8-98EE-42D5-964D-A0AA2FDCA6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D65383-103F-40B3-990A-939BE095DBF7}"/>
              </a:ext>
            </a:extLst>
          </p:cNvPr>
          <p:cNvSpPr>
            <a:spLocks noGrp="1"/>
          </p:cNvSpPr>
          <p:nvPr>
            <p:ph type="sldNum" sz="quarter" idx="12"/>
          </p:nvPr>
        </p:nvSpPr>
        <p:spPr/>
        <p:txBody>
          <a:bodyPr/>
          <a:lstStyle/>
          <a:p>
            <a:fld id="{5FDB1E79-7BB8-460D-940C-1AA9D5FFA4EA}" type="slidenum">
              <a:rPr lang="en-US" smtClean="0"/>
              <a:t>‹#›</a:t>
            </a:fld>
            <a:endParaRPr lang="en-US"/>
          </a:p>
        </p:txBody>
      </p:sp>
    </p:spTree>
    <p:extLst>
      <p:ext uri="{BB962C8B-B14F-4D97-AF65-F5344CB8AC3E}">
        <p14:creationId xmlns:p14="http://schemas.microsoft.com/office/powerpoint/2010/main" val="1220480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D57FD8-1483-4748-98D0-833D4E5245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16CBE0-103B-4E4A-AF14-8D88E5FDFA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F37791-BD0C-46FA-89B0-6447C8FD49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B8893C-AA98-43F2-B227-7DF9ECCCC61D}" type="datetimeFigureOut">
              <a:rPr lang="en-US" smtClean="0"/>
              <a:t>7/7/2018</a:t>
            </a:fld>
            <a:endParaRPr lang="en-US"/>
          </a:p>
        </p:txBody>
      </p:sp>
      <p:sp>
        <p:nvSpPr>
          <p:cNvPr id="5" name="Footer Placeholder 4">
            <a:extLst>
              <a:ext uri="{FF2B5EF4-FFF2-40B4-BE49-F238E27FC236}">
                <a16:creationId xmlns:a16="http://schemas.microsoft.com/office/drawing/2014/main" id="{42ADF585-D4EE-4FB6-A801-37B9772A50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75921AD-4661-4898-B2E8-B8435BD0BC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DB1E79-7BB8-460D-940C-1AA9D5FFA4EA}" type="slidenum">
              <a:rPr lang="en-US" smtClean="0"/>
              <a:t>‹#›</a:t>
            </a:fld>
            <a:endParaRPr lang="en-US"/>
          </a:p>
        </p:txBody>
      </p:sp>
    </p:spTree>
    <p:extLst>
      <p:ext uri="{BB962C8B-B14F-4D97-AF65-F5344CB8AC3E}">
        <p14:creationId xmlns:p14="http://schemas.microsoft.com/office/powerpoint/2010/main" val="128035449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E784A-9107-4C28-B067-A7941F87C4EF}"/>
              </a:ext>
            </a:extLst>
          </p:cNvPr>
          <p:cNvSpPr>
            <a:spLocks noGrp="1"/>
          </p:cNvSpPr>
          <p:nvPr>
            <p:ph type="ctrTitle"/>
          </p:nvPr>
        </p:nvSpPr>
        <p:spPr/>
        <p:txBody>
          <a:bodyPr/>
          <a:lstStyle/>
          <a:p>
            <a:r>
              <a:rPr lang="en-US" dirty="0"/>
              <a:t>Visualizations of Netflix Stock</a:t>
            </a:r>
          </a:p>
        </p:txBody>
      </p:sp>
      <p:sp>
        <p:nvSpPr>
          <p:cNvPr id="3" name="Subtitle 2">
            <a:extLst>
              <a:ext uri="{FF2B5EF4-FFF2-40B4-BE49-F238E27FC236}">
                <a16:creationId xmlns:a16="http://schemas.microsoft.com/office/drawing/2014/main" id="{5F01EE5C-5A14-43EF-B8AE-EFD4C87DBB1C}"/>
              </a:ext>
            </a:extLst>
          </p:cNvPr>
          <p:cNvSpPr>
            <a:spLocks noGrp="1"/>
          </p:cNvSpPr>
          <p:nvPr>
            <p:ph type="subTitle" idx="1"/>
          </p:nvPr>
        </p:nvSpPr>
        <p:spPr/>
        <p:txBody>
          <a:bodyPr/>
          <a:lstStyle/>
          <a:p>
            <a:r>
              <a:rPr lang="en-US" dirty="0"/>
              <a:t>By Shakeel Khan</a:t>
            </a:r>
          </a:p>
        </p:txBody>
      </p:sp>
    </p:spTree>
    <p:extLst>
      <p:ext uri="{BB962C8B-B14F-4D97-AF65-F5344CB8AC3E}">
        <p14:creationId xmlns:p14="http://schemas.microsoft.com/office/powerpoint/2010/main" val="4086937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9E85F-2964-4BBE-9590-AB24CA56FD17}"/>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4087907C-CA3E-4ED3-992E-67935F73785A}"/>
              </a:ext>
            </a:extLst>
          </p:cNvPr>
          <p:cNvSpPr>
            <a:spLocks noGrp="1"/>
          </p:cNvSpPr>
          <p:nvPr>
            <p:ph idx="1"/>
          </p:nvPr>
        </p:nvSpPr>
        <p:spPr/>
        <p:txBody>
          <a:bodyPr/>
          <a:lstStyle/>
          <a:p>
            <a:r>
              <a:rPr lang="en-US" dirty="0"/>
              <a:t>Visualizations included in this presentation will cover</a:t>
            </a:r>
          </a:p>
          <a:p>
            <a:pPr lvl="1"/>
            <a:r>
              <a:rPr lang="en-US" dirty="0"/>
              <a:t>Distribution of stock prices each quarter</a:t>
            </a:r>
          </a:p>
          <a:p>
            <a:pPr lvl="1"/>
            <a:r>
              <a:rPr lang="en-US" dirty="0"/>
              <a:t>Performance of the </a:t>
            </a:r>
            <a:r>
              <a:rPr lang="en-US" dirty="0" err="1"/>
              <a:t>eaearnings</a:t>
            </a:r>
            <a:r>
              <a:rPr lang="en-US" dirty="0"/>
              <a:t> and revenue</a:t>
            </a:r>
          </a:p>
          <a:p>
            <a:pPr lvl="1"/>
            <a:r>
              <a:rPr lang="en-US" dirty="0"/>
              <a:t>Netflix stock compared </a:t>
            </a:r>
            <a:r>
              <a:rPr lang="en-US" dirty="0" err="1"/>
              <a:t>rnings</a:t>
            </a:r>
            <a:r>
              <a:rPr lang="en-US" dirty="0"/>
              <a:t> per share</a:t>
            </a:r>
          </a:p>
          <a:p>
            <a:pPr lvl="1"/>
            <a:r>
              <a:rPr lang="en-US" dirty="0"/>
              <a:t>Summary of the to the Dow Jones Industrial Average</a:t>
            </a:r>
          </a:p>
          <a:p>
            <a:pPr marL="0" indent="0">
              <a:buNone/>
            </a:pPr>
            <a:r>
              <a:rPr lang="en-US" dirty="0"/>
              <a:t>My role as a data visualization developer at Yahoo! Finance is to create these visualizations in hopes to help the Netflix Stock profile team easily visualize Netflix Stock data in 2017 through producing this stock profile.</a:t>
            </a:r>
          </a:p>
        </p:txBody>
      </p:sp>
    </p:spTree>
    <p:extLst>
      <p:ext uri="{BB962C8B-B14F-4D97-AF65-F5344CB8AC3E}">
        <p14:creationId xmlns:p14="http://schemas.microsoft.com/office/powerpoint/2010/main" val="1041814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1C764-305C-487B-B112-B11C52C7D87E}"/>
              </a:ext>
            </a:extLst>
          </p:cNvPr>
          <p:cNvSpPr>
            <a:spLocks noGrp="1"/>
          </p:cNvSpPr>
          <p:nvPr>
            <p:ph type="title"/>
          </p:nvPr>
        </p:nvSpPr>
        <p:spPr/>
        <p:txBody>
          <a:bodyPr/>
          <a:lstStyle/>
          <a:p>
            <a:r>
              <a:rPr lang="en-US" dirty="0"/>
              <a:t>Distribution of Stock Prices</a:t>
            </a:r>
          </a:p>
        </p:txBody>
      </p:sp>
      <p:sp>
        <p:nvSpPr>
          <p:cNvPr id="4" name="Text Placeholder 3">
            <a:extLst>
              <a:ext uri="{FF2B5EF4-FFF2-40B4-BE49-F238E27FC236}">
                <a16:creationId xmlns:a16="http://schemas.microsoft.com/office/drawing/2014/main" id="{DFECF0CD-2C2B-4B4F-A0EC-EEAA8670C388}"/>
              </a:ext>
            </a:extLst>
          </p:cNvPr>
          <p:cNvSpPr>
            <a:spLocks noGrp="1"/>
          </p:cNvSpPr>
          <p:nvPr>
            <p:ph type="body" sz="half" idx="2"/>
          </p:nvPr>
        </p:nvSpPr>
        <p:spPr/>
        <p:txBody>
          <a:bodyPr>
            <a:noAutofit/>
          </a:bodyPr>
          <a:lstStyle/>
          <a:p>
            <a:pPr marL="285750" indent="-285750">
              <a:buFont typeface="Arial" panose="020B0604020202020204" pitchFamily="34" charset="0"/>
              <a:buChar char="•"/>
            </a:pPr>
            <a:r>
              <a:rPr lang="en-US" dirty="0"/>
              <a:t>In the 1</a:t>
            </a:r>
            <a:r>
              <a:rPr lang="en-US" baseline="30000" dirty="0"/>
              <a:t>st</a:t>
            </a:r>
            <a:r>
              <a:rPr lang="en-US" dirty="0"/>
              <a:t>, 2</a:t>
            </a:r>
            <a:r>
              <a:rPr lang="en-US" baseline="30000" dirty="0"/>
              <a:t>nd</a:t>
            </a:r>
            <a:r>
              <a:rPr lang="en-US" dirty="0"/>
              <a:t>, and 3</a:t>
            </a:r>
            <a:r>
              <a:rPr lang="en-US" baseline="30000" dirty="0"/>
              <a:t>rd</a:t>
            </a:r>
            <a:r>
              <a:rPr lang="en-US" dirty="0"/>
              <a:t> quarter prices (at some point  in the quarter) were still hovering around $135-140 (showing it’s not consistent)</a:t>
            </a:r>
          </a:p>
          <a:p>
            <a:pPr marL="285750" indent="-285750">
              <a:buFont typeface="Arial" panose="020B0604020202020204" pitchFamily="34" charset="0"/>
              <a:buChar char="•"/>
            </a:pPr>
            <a:r>
              <a:rPr lang="en-US" dirty="0"/>
              <a:t>(Approximate) Price ranges by quarter:</a:t>
            </a:r>
          </a:p>
          <a:p>
            <a:pPr marL="742950" lvl="1" indent="-285750">
              <a:buFont typeface="Arial" panose="020B0604020202020204" pitchFamily="34" charset="0"/>
              <a:buChar char="•"/>
            </a:pPr>
            <a:r>
              <a:rPr lang="en-US" sz="1600" dirty="0"/>
              <a:t>Q1: $125-150</a:t>
            </a:r>
          </a:p>
          <a:p>
            <a:pPr marL="742950" lvl="1" indent="-285750">
              <a:buFont typeface="Arial" panose="020B0604020202020204" pitchFamily="34" charset="0"/>
              <a:buChar char="•"/>
            </a:pPr>
            <a:r>
              <a:rPr lang="en-US" sz="1600" dirty="0"/>
              <a:t>Q2: $135-170</a:t>
            </a:r>
          </a:p>
          <a:p>
            <a:pPr marL="742950" lvl="1" indent="-285750">
              <a:buFont typeface="Arial" panose="020B0604020202020204" pitchFamily="34" charset="0"/>
              <a:buChar char="•"/>
            </a:pPr>
            <a:r>
              <a:rPr lang="en-US" sz="1600" dirty="0"/>
              <a:t>Q3: $135-195</a:t>
            </a:r>
          </a:p>
          <a:p>
            <a:pPr marL="742950" lvl="1" indent="-285750">
              <a:buFont typeface="Arial" panose="020B0604020202020204" pitchFamily="34" charset="0"/>
              <a:buChar char="•"/>
            </a:pPr>
            <a:r>
              <a:rPr lang="en-US" sz="1600" dirty="0"/>
              <a:t>Q4: $175-205</a:t>
            </a:r>
          </a:p>
          <a:p>
            <a:pPr marL="285750" indent="-285750">
              <a:buFont typeface="Arial" panose="020B0604020202020204" pitchFamily="34" charset="0"/>
              <a:buChar char="•"/>
            </a:pPr>
            <a:r>
              <a:rPr lang="en-US" dirty="0"/>
              <a:t>The lowest prices occurred in Q1 where they were as low as $125</a:t>
            </a:r>
          </a:p>
          <a:p>
            <a:pPr marL="285750" indent="-285750">
              <a:buFont typeface="Arial" panose="020B0604020202020204" pitchFamily="34" charset="0"/>
              <a:buChar char="•"/>
            </a:pPr>
            <a:r>
              <a:rPr lang="en-US" dirty="0"/>
              <a:t>The highest prices occurred in Q4 when they were about $205</a:t>
            </a:r>
          </a:p>
        </p:txBody>
      </p:sp>
      <p:pic>
        <p:nvPicPr>
          <p:cNvPr id="14" name="Picture Placeholder 13">
            <a:extLst>
              <a:ext uri="{FF2B5EF4-FFF2-40B4-BE49-F238E27FC236}">
                <a16:creationId xmlns:a16="http://schemas.microsoft.com/office/drawing/2014/main" id="{79579B69-B846-49B3-85E5-12C2A57E75CC}"/>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l="2508" r="2508"/>
          <a:stretch>
            <a:fillRect/>
          </a:stretch>
        </p:blipFill>
        <p:spPr/>
      </p:pic>
    </p:spTree>
    <p:extLst>
      <p:ext uri="{BB962C8B-B14F-4D97-AF65-F5344CB8AC3E}">
        <p14:creationId xmlns:p14="http://schemas.microsoft.com/office/powerpoint/2010/main" val="2929570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8A9A2-38F7-4EA0-BD60-5998C31F9841}"/>
              </a:ext>
            </a:extLst>
          </p:cNvPr>
          <p:cNvSpPr>
            <a:spLocks noGrp="1"/>
          </p:cNvSpPr>
          <p:nvPr>
            <p:ph type="title"/>
          </p:nvPr>
        </p:nvSpPr>
        <p:spPr/>
        <p:txBody>
          <a:bodyPr/>
          <a:lstStyle/>
          <a:p>
            <a:r>
              <a:rPr lang="en-US" dirty="0"/>
              <a:t>Earnings and Revenue</a:t>
            </a:r>
          </a:p>
        </p:txBody>
      </p:sp>
      <p:sp>
        <p:nvSpPr>
          <p:cNvPr id="4" name="Text Placeholder 3">
            <a:extLst>
              <a:ext uri="{FF2B5EF4-FFF2-40B4-BE49-F238E27FC236}">
                <a16:creationId xmlns:a16="http://schemas.microsoft.com/office/drawing/2014/main" id="{674AC66E-8D06-468D-A255-B581EAAE5518}"/>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1200" dirty="0"/>
              <a:t>The revenue rose about 6-12% every quarter</a:t>
            </a:r>
          </a:p>
          <a:p>
            <a:pPr marL="742950" lvl="1" indent="-285750">
              <a:buFont typeface="Arial" panose="020B0604020202020204" pitchFamily="34" charset="0"/>
              <a:buChar char="•"/>
            </a:pPr>
            <a:r>
              <a:rPr lang="en-US" sz="1100" dirty="0"/>
              <a:t>About 6% in Q3 2017</a:t>
            </a:r>
          </a:p>
          <a:p>
            <a:pPr marL="742950" lvl="1" indent="-285750">
              <a:buFont typeface="Arial" panose="020B0604020202020204" pitchFamily="34" charset="0"/>
              <a:buChar char="•"/>
            </a:pPr>
            <a:r>
              <a:rPr lang="en-US" sz="1100" dirty="0"/>
              <a:t>About 10% Q4 2017</a:t>
            </a:r>
          </a:p>
          <a:p>
            <a:pPr marL="742950" lvl="1" indent="-285750">
              <a:buFont typeface="Arial" panose="020B0604020202020204" pitchFamily="34" charset="0"/>
              <a:buChar char="•"/>
            </a:pPr>
            <a:r>
              <a:rPr lang="en-US" sz="1100" dirty="0"/>
              <a:t>About 12% Q1 2018</a:t>
            </a:r>
          </a:p>
          <a:p>
            <a:pPr marL="285750" indent="-285750">
              <a:buFont typeface="Arial" panose="020B0604020202020204" pitchFamily="34" charset="0"/>
              <a:buChar char="•"/>
            </a:pPr>
            <a:r>
              <a:rPr lang="en-US" sz="1200" dirty="0"/>
              <a:t>Earnings rose about 30-50% every quarter</a:t>
            </a:r>
          </a:p>
          <a:p>
            <a:pPr marL="742950" lvl="1" indent="-285750">
              <a:buFont typeface="Arial" panose="020B0604020202020204" pitchFamily="34" charset="0"/>
              <a:buChar char="•"/>
            </a:pPr>
            <a:r>
              <a:rPr lang="en-US" sz="1100" dirty="0"/>
              <a:t>About 50% Q3 2017</a:t>
            </a:r>
          </a:p>
          <a:p>
            <a:pPr marL="742950" lvl="1" indent="-285750">
              <a:buFont typeface="Arial" panose="020B0604020202020204" pitchFamily="34" charset="0"/>
              <a:buChar char="•"/>
            </a:pPr>
            <a:r>
              <a:rPr lang="en-US" sz="1100" dirty="0"/>
              <a:t>About 30% Q4 2017</a:t>
            </a:r>
          </a:p>
          <a:p>
            <a:pPr marL="742950" lvl="1" indent="-285750">
              <a:buFont typeface="Arial" panose="020B0604020202020204" pitchFamily="34" charset="0"/>
              <a:buChar char="•"/>
            </a:pPr>
            <a:r>
              <a:rPr lang="en-US" sz="1100" dirty="0"/>
              <a:t>About 36% Q1 2018</a:t>
            </a:r>
          </a:p>
          <a:p>
            <a:pPr marL="285750" indent="-285750">
              <a:buFont typeface="Arial" panose="020B0604020202020204" pitchFamily="34" charset="0"/>
              <a:buChar char="•"/>
            </a:pPr>
            <a:r>
              <a:rPr lang="en-US" sz="1200" dirty="0"/>
              <a:t>Typically, 2-8% of the revenue ended up being the earnings</a:t>
            </a:r>
          </a:p>
          <a:p>
            <a:pPr marL="742950" lvl="1" indent="-285750">
              <a:buFont typeface="Arial" panose="020B0604020202020204" pitchFamily="34" charset="0"/>
              <a:buChar char="•"/>
            </a:pPr>
            <a:r>
              <a:rPr lang="en-US" sz="1100" dirty="0"/>
              <a:t>About 2% Q2 2017</a:t>
            </a:r>
          </a:p>
          <a:p>
            <a:pPr marL="742950" lvl="1" indent="-285750">
              <a:buFont typeface="Arial" panose="020B0604020202020204" pitchFamily="34" charset="0"/>
              <a:buChar char="•"/>
            </a:pPr>
            <a:r>
              <a:rPr lang="en-US" sz="1100" dirty="0"/>
              <a:t>About 4% Q3 2017</a:t>
            </a:r>
          </a:p>
          <a:p>
            <a:pPr marL="742950" lvl="1" indent="-285750">
              <a:buFont typeface="Arial" panose="020B0604020202020204" pitchFamily="34" charset="0"/>
              <a:buChar char="•"/>
            </a:pPr>
            <a:r>
              <a:rPr lang="en-US" sz="1100" dirty="0"/>
              <a:t>About 6% Q4 2017</a:t>
            </a:r>
          </a:p>
          <a:p>
            <a:pPr marL="742950" lvl="1" indent="-285750">
              <a:buFont typeface="Arial" panose="020B0604020202020204" pitchFamily="34" charset="0"/>
              <a:buChar char="•"/>
            </a:pPr>
            <a:r>
              <a:rPr lang="en-US" sz="1100" dirty="0"/>
              <a:t>About 8% Q1 2018</a:t>
            </a:r>
          </a:p>
        </p:txBody>
      </p:sp>
      <p:pic>
        <p:nvPicPr>
          <p:cNvPr id="14" name="Picture Placeholder 13">
            <a:extLst>
              <a:ext uri="{FF2B5EF4-FFF2-40B4-BE49-F238E27FC236}">
                <a16:creationId xmlns:a16="http://schemas.microsoft.com/office/drawing/2014/main" id="{7B225C7A-ED80-4892-83FA-910562FC366D}"/>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l="2508" r="2508"/>
          <a:stretch>
            <a:fillRect/>
          </a:stretch>
        </p:blipFill>
        <p:spPr/>
      </p:pic>
    </p:spTree>
    <p:extLst>
      <p:ext uri="{BB962C8B-B14F-4D97-AF65-F5344CB8AC3E}">
        <p14:creationId xmlns:p14="http://schemas.microsoft.com/office/powerpoint/2010/main" val="652301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6B29F-9ADC-454A-8838-286C4FBB67E9}"/>
              </a:ext>
            </a:extLst>
          </p:cNvPr>
          <p:cNvSpPr>
            <a:spLocks noGrp="1"/>
          </p:cNvSpPr>
          <p:nvPr>
            <p:ph type="title"/>
          </p:nvPr>
        </p:nvSpPr>
        <p:spPr/>
        <p:txBody>
          <a:bodyPr/>
          <a:lstStyle/>
          <a:p>
            <a:r>
              <a:rPr lang="en-US" dirty="0"/>
              <a:t>Earnings Per Share</a:t>
            </a:r>
          </a:p>
        </p:txBody>
      </p:sp>
      <p:sp>
        <p:nvSpPr>
          <p:cNvPr id="4" name="Text Placeholder 3">
            <a:extLst>
              <a:ext uri="{FF2B5EF4-FFF2-40B4-BE49-F238E27FC236}">
                <a16:creationId xmlns:a16="http://schemas.microsoft.com/office/drawing/2014/main" id="{0CA5F5C7-D507-4062-9241-B0ED61C64893}"/>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Earnings per share and estimates where either very close or dead accurate</a:t>
            </a:r>
          </a:p>
          <a:p>
            <a:pPr marL="285750" indent="-285750">
              <a:buFont typeface="Arial" panose="020B0604020202020204" pitchFamily="34" charset="0"/>
              <a:buChar char="•"/>
            </a:pPr>
            <a:r>
              <a:rPr lang="en-US" dirty="0"/>
              <a:t>The highest earnings made was $0.41 in Q4</a:t>
            </a:r>
          </a:p>
          <a:p>
            <a:pPr marL="285750" indent="-285750">
              <a:buFont typeface="Arial" panose="020B0604020202020204" pitchFamily="34" charset="0"/>
              <a:buChar char="•"/>
            </a:pPr>
            <a:r>
              <a:rPr lang="en-US" dirty="0"/>
              <a:t>The lowest earnings made was $0.15 in Q2</a:t>
            </a:r>
          </a:p>
          <a:p>
            <a:pPr marL="285750" indent="-285750">
              <a:buFont typeface="Arial" panose="020B0604020202020204" pitchFamily="34" charset="0"/>
              <a:buChar char="•"/>
            </a:pPr>
            <a:r>
              <a:rPr lang="en-US" dirty="0"/>
              <a:t>The actual amount made and the estimate where the same in Q2 and Q4</a:t>
            </a:r>
          </a:p>
          <a:p>
            <a:pPr marL="285750" indent="-285750">
              <a:buFont typeface="Arial" panose="020B0604020202020204" pitchFamily="34" charset="0"/>
              <a:buChar char="•"/>
            </a:pPr>
            <a:r>
              <a:rPr lang="en-US" dirty="0"/>
              <a:t>The average error between int the Actual earnings per share vs the estimate is ±0.03</a:t>
            </a:r>
          </a:p>
        </p:txBody>
      </p:sp>
      <p:pic>
        <p:nvPicPr>
          <p:cNvPr id="14" name="Picture Placeholder 13">
            <a:extLst>
              <a:ext uri="{FF2B5EF4-FFF2-40B4-BE49-F238E27FC236}">
                <a16:creationId xmlns:a16="http://schemas.microsoft.com/office/drawing/2014/main" id="{BE3F93FC-E911-4486-A986-02D0B942EF22}"/>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508" r="2508"/>
          <a:stretch>
            <a:fillRect/>
          </a:stretch>
        </p:blipFill>
        <p:spPr/>
      </p:pic>
    </p:spTree>
    <p:extLst>
      <p:ext uri="{BB962C8B-B14F-4D97-AF65-F5344CB8AC3E}">
        <p14:creationId xmlns:p14="http://schemas.microsoft.com/office/powerpoint/2010/main" val="635731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CF68453-4F3C-41C1-96DF-0FAD23A9D6B0}"/>
              </a:ext>
            </a:extLst>
          </p:cNvPr>
          <p:cNvSpPr>
            <a:spLocks noGrp="1"/>
          </p:cNvSpPr>
          <p:nvPr>
            <p:ph type="title"/>
          </p:nvPr>
        </p:nvSpPr>
        <p:spPr/>
        <p:txBody>
          <a:bodyPr/>
          <a:lstStyle/>
          <a:p>
            <a:r>
              <a:rPr lang="en-US" dirty="0"/>
              <a:t>Netflix Vs Dow Jones</a:t>
            </a:r>
          </a:p>
        </p:txBody>
      </p:sp>
      <p:sp>
        <p:nvSpPr>
          <p:cNvPr id="19" name="Text Placeholder 18">
            <a:extLst>
              <a:ext uri="{FF2B5EF4-FFF2-40B4-BE49-F238E27FC236}">
                <a16:creationId xmlns:a16="http://schemas.microsoft.com/office/drawing/2014/main" id="{22F50295-7F58-4ADA-A145-19EF62192ADA}"/>
              </a:ext>
            </a:extLst>
          </p:cNvPr>
          <p:cNvSpPr>
            <a:spLocks noGrp="1"/>
          </p:cNvSpPr>
          <p:nvPr>
            <p:ph type="body" sz="half" idx="2"/>
          </p:nvPr>
        </p:nvSpPr>
        <p:spPr/>
        <p:txBody>
          <a:bodyPr>
            <a:noAutofit/>
          </a:bodyPr>
          <a:lstStyle/>
          <a:p>
            <a:pPr marL="285750" indent="-285750">
              <a:buFont typeface="Arial" panose="020B0604020202020204" pitchFamily="34" charset="0"/>
              <a:buChar char="•"/>
            </a:pPr>
            <a:r>
              <a:rPr lang="en-US" sz="1500" dirty="0"/>
              <a:t>In the 1</a:t>
            </a:r>
            <a:r>
              <a:rPr lang="en-US" sz="1500" baseline="30000" dirty="0"/>
              <a:t>st</a:t>
            </a:r>
            <a:r>
              <a:rPr lang="en-US" sz="1500" dirty="0"/>
              <a:t> quarter the Dow Jones Industrial Average performed better than Netflix stock</a:t>
            </a:r>
          </a:p>
          <a:p>
            <a:pPr marL="285750" indent="-285750">
              <a:buFont typeface="Arial" panose="020B0604020202020204" pitchFamily="34" charset="0"/>
              <a:buChar char="•"/>
            </a:pPr>
            <a:r>
              <a:rPr lang="en-US" sz="1500" dirty="0"/>
              <a:t>While in the 2</a:t>
            </a:r>
            <a:r>
              <a:rPr lang="en-US" sz="1500" baseline="30000" dirty="0"/>
              <a:t>nd</a:t>
            </a:r>
            <a:r>
              <a:rPr lang="en-US" sz="1500" dirty="0"/>
              <a:t> and 3</a:t>
            </a:r>
            <a:r>
              <a:rPr lang="en-US" sz="1500" baseline="30000" dirty="0"/>
              <a:t>rd</a:t>
            </a:r>
            <a:r>
              <a:rPr lang="en-US" sz="1500" dirty="0"/>
              <a:t> quarters Dow Jones maintained consistency and continued climbing, Netflix Stock crashed in the end of the 2</a:t>
            </a:r>
            <a:r>
              <a:rPr lang="en-US" sz="1500" baseline="30000" dirty="0"/>
              <a:t>nd</a:t>
            </a:r>
            <a:r>
              <a:rPr lang="en-US" sz="1500" dirty="0"/>
              <a:t> quarter but spiked during the beginning of the third quarter, ending at a price slightly lower than what they started at</a:t>
            </a:r>
          </a:p>
          <a:p>
            <a:pPr marL="285750" indent="-285750">
              <a:buFont typeface="Arial" panose="020B0604020202020204" pitchFamily="34" charset="0"/>
              <a:buChar char="•"/>
            </a:pPr>
            <a:r>
              <a:rPr lang="en-US" sz="1500" dirty="0"/>
              <a:t>In the 4</a:t>
            </a:r>
            <a:r>
              <a:rPr lang="en-US" sz="1500" baseline="30000" dirty="0"/>
              <a:t>th</a:t>
            </a:r>
            <a:r>
              <a:rPr lang="en-US" sz="1500" dirty="0"/>
              <a:t> quarter Netflix started doing better than Dow Jones but towards the end the consistency of the Dow Jones made it end in a better position than Netflix</a:t>
            </a:r>
          </a:p>
          <a:p>
            <a:pPr marL="285750" indent="-285750">
              <a:buFont typeface="Arial" panose="020B0604020202020204" pitchFamily="34" charset="0"/>
              <a:buChar char="•"/>
            </a:pPr>
            <a:r>
              <a:rPr lang="en-US" sz="1500" dirty="0"/>
              <a:t>We can conclude that Netflix stock is far more volatile</a:t>
            </a:r>
          </a:p>
          <a:p>
            <a:pPr marL="285750" indent="-285750">
              <a:buFont typeface="Arial" panose="020B0604020202020204" pitchFamily="34" charset="0"/>
              <a:buChar char="•"/>
            </a:pPr>
            <a:r>
              <a:rPr lang="en-US" sz="1500" dirty="0"/>
              <a:t>Dow Jones has far more consistent prices, showing the general market was doing much better than Netflix</a:t>
            </a:r>
          </a:p>
        </p:txBody>
      </p:sp>
      <p:pic>
        <p:nvPicPr>
          <p:cNvPr id="25" name="Picture 24">
            <a:extLst>
              <a:ext uri="{FF2B5EF4-FFF2-40B4-BE49-F238E27FC236}">
                <a16:creationId xmlns:a16="http://schemas.microsoft.com/office/drawing/2014/main" id="{5D80C194-3F77-4271-A33D-9A602E2E89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5812" y="0"/>
            <a:ext cx="5486400" cy="6858000"/>
          </a:xfrm>
          <a:prstGeom prst="rect">
            <a:avLst/>
          </a:prstGeom>
        </p:spPr>
      </p:pic>
    </p:spTree>
    <p:extLst>
      <p:ext uri="{BB962C8B-B14F-4D97-AF65-F5344CB8AC3E}">
        <p14:creationId xmlns:p14="http://schemas.microsoft.com/office/powerpoint/2010/main" val="213591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34A72A-072C-428C-94D2-85D3317F450B}"/>
              </a:ext>
            </a:extLst>
          </p:cNvPr>
          <p:cNvSpPr>
            <a:spLocks noGrp="1"/>
          </p:cNvSpPr>
          <p:nvPr>
            <p:ph type="title"/>
          </p:nvPr>
        </p:nvSpPr>
        <p:spPr>
          <a:xfrm>
            <a:off x="838200" y="2766218"/>
            <a:ext cx="10515600" cy="1325563"/>
          </a:xfrm>
        </p:spPr>
        <p:txBody>
          <a:bodyPr/>
          <a:lstStyle/>
          <a:p>
            <a:r>
              <a:rPr lang="en-US" dirty="0"/>
              <a:t>Thanks for Watching!</a:t>
            </a:r>
          </a:p>
        </p:txBody>
      </p:sp>
    </p:spTree>
    <p:extLst>
      <p:ext uri="{BB962C8B-B14F-4D97-AF65-F5344CB8AC3E}">
        <p14:creationId xmlns:p14="http://schemas.microsoft.com/office/powerpoint/2010/main" val="19744905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2765</TotalTime>
  <Words>614</Words>
  <Application>Microsoft Office PowerPoint</Application>
  <PresentationFormat>Widescreen</PresentationFormat>
  <Paragraphs>55</Paragraphs>
  <Slides>7</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Visualizations of Netflix Stock</vt:lpstr>
      <vt:lpstr>Overview</vt:lpstr>
      <vt:lpstr>Distribution of Stock Prices</vt:lpstr>
      <vt:lpstr>Earnings and Revenue</vt:lpstr>
      <vt:lpstr>Earnings Per Share</vt:lpstr>
      <vt:lpstr>Netflix Vs Dow Jones</vt:lpstr>
      <vt:lpstr>Thanks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Visualizations of Netflix Stock</dc:title>
  <dc:creator>Shakeel Khan</dc:creator>
  <cp:lastModifiedBy>Shakeel Khan</cp:lastModifiedBy>
  <cp:revision>22</cp:revision>
  <dcterms:created xsi:type="dcterms:W3CDTF">2018-07-05T21:34:29Z</dcterms:created>
  <dcterms:modified xsi:type="dcterms:W3CDTF">2018-07-07T20:10:25Z</dcterms:modified>
</cp:coreProperties>
</file>